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50c02ac-2a41-990c-7b5b-e5903f514b30}">
          <p14:sldIdLst>
            <p14:sldId id="256"/>
          </p14:sldIdLst>
        </p14:section>
        <p14:section name="The problem" id="{bcc0cdcb-e2d4-9b2f-0007-beb9a9d0eb4f}">
          <p14:sldIdLst>
            <p14:sldId id="257"/>
            <p14:sldId id="258"/>
          </p14:sldIdLst>
        </p14:section>
        <p14:section name="The product" id="{084c3325-3e1b-0834-249b-6f95e349819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Status" id="{300e9b5d-e645-60bc-a577-c44c51b1958e}">
          <p14:sldIdLst>
            <p14:sldId id="269"/>
          </p14:sldIdLst>
        </p14:section>
        <p14:section name="Closing" id="{9017d7dc-002a-3904-9b89-caea8cfea5d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CareerNest and the team. Mention that the app is live and can be opened during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 judges to open the live demo. Demo passwords are in the project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AAA"/>
                </a:solidFill>
              </a:rPr>
              <a:t>CareerNest · Rowders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4A5F5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9B98"/>
                </a:solidFill>
              </a:rPr>
              <a:t>CareerNest · Rowders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F9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/>
          <p:nvPr/>
        </p:nvSpPr>
        <p:spPr>
          <a:xfrm>
            <a:off x="777240" y="1783080"/>
            <a:ext cx="841248" cy="8412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17830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88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CareerNest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9D6"/>
                </a:solidFill>
              </a:rPr>
              <a:t>Career guidance that follows the student, step by step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DB9"/>
                </a:solidFill>
              </a:rPr>
              <a:t>Group: Rowders          Live demo: careernest-bn5l.onrender.com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F9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1C5"/>
                </a:solidFill>
              </a:rPr>
              <a:t>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6517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9D6"/>
                </a:solidFill>
              </a:rPr>
              <a:t>Choosing a career in Myanmar is mostly guesswork.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F9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decide alone, with too little information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Grade 12, GED and IGCSE students face one of the biggest decisions of their lives with scattered advice.</a:t>
            </a:r>
            <a:endParaRPr lang="en-US" sz="1300" dirty="0"/>
          </a:p>
        </p:txBody>
      </p:sp>
      <p:sp>
        <p:nvSpPr>
          <p:cNvPr id="4" name="card1"/>
          <p:cNvSpPr/>
          <p:nvPr/>
        </p:nvSpPr>
        <p:spPr>
          <a:xfrm>
            <a:off x="777240" y="1965960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" y="2240280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8136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624328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No structured guidance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935224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School counselling is rare. Advice comes from family, friends and social media rather than from the student's own interests.</a:t>
            </a:r>
            <a:endParaRPr lang="en-US" sz="1250" dirty="0"/>
          </a:p>
        </p:txBody>
      </p:sp>
      <p:sp>
        <p:nvSpPr>
          <p:cNvPr id="9" name="card2"/>
          <p:cNvSpPr/>
          <p:nvPr/>
        </p:nvSpPr>
        <p:spPr>
          <a:xfrm>
            <a:off x="6278728" y="1965960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9624" y="2240280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9624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9624" y="2624328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Scattered information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89624" y="2935224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University, major and admission details sit in separate places and are hard to compare side by side.</a:t>
            </a:r>
            <a:endParaRPr lang="en-US" sz="1250" dirty="0"/>
          </a:p>
        </p:txBody>
      </p:sp>
      <p:sp>
        <p:nvSpPr>
          <p:cNvPr id="14" name="card3"/>
          <p:cNvSpPr/>
          <p:nvPr/>
        </p:nvSpPr>
        <p:spPr>
          <a:xfrm>
            <a:off x="777240" y="3995928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" y="4270248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88136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" y="4654296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Few people to ask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965192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Most students never speak with someone already working in the field they are considering.</a:t>
            </a:r>
            <a:endParaRPr lang="en-US" sz="1250" dirty="0"/>
          </a:p>
        </p:txBody>
      </p:sp>
      <p:sp>
        <p:nvSpPr>
          <p:cNvPr id="19" name="card4"/>
          <p:cNvSpPr/>
          <p:nvPr/>
        </p:nvSpPr>
        <p:spPr>
          <a:xfrm>
            <a:off x="6278728" y="3995928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9624" y="4270248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9624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9624" y="4654296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Decisions are not kept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89624" y="4965192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Whatever a student works out gets lost. There is no plan to come back to and adjust.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1C5"/>
                </a:solidFill>
              </a:rPr>
              <a:t>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6517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9D6"/>
                </a:solidFill>
              </a:rPr>
              <a:t>One guided journey from interests to a written plan.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F9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CareerNest turns a vague question into a concrete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002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46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career guidance web app for Myanmar students that matches interests to careers, opens up universities and majors, adds AI coaching and real mentors, and saves the whole journey as a plan the student owns.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3072384" cy="384048"/>
          </a:xfrm>
          <a:prstGeom prst="roundRect">
            <a:avLst>
              <a:gd name="adj" fmla="val 50000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29184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Interest quiz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95928" y="3291840"/>
            <a:ext cx="3273552" cy="384048"/>
          </a:xfrm>
          <a:prstGeom prst="roundRect">
            <a:avLst>
              <a:gd name="adj" fmla="val 50000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95928" y="329184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Career matches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15784" y="329184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15784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University discovery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042648" y="329184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042648" y="329184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coach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255496" y="3291840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55496" y="329184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Mentors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267176" y="3291840"/>
            <a:ext cx="3072384" cy="384048"/>
          </a:xfrm>
          <a:prstGeom prst="roundRect">
            <a:avLst>
              <a:gd name="adj" fmla="val 50000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267176" y="329184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Personal plan</a:t>
            </a:r>
            <a:endParaRPr lang="en-US" sz="1150" dirty="0"/>
          </a:p>
        </p:txBody>
      </p:sp>
      <p:sp>
        <p:nvSpPr>
          <p:cNvPr id="16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journey works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Each step unlocks the next, so no one is left staring at an empty dashboard.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4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193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A"/>
                </a:solidFill>
              </a:rPr>
              <a:t>Choose a level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93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F5F"/>
                </a:solidFill>
              </a:rPr>
              <a:t>Grade 12, GED or IGCSE sets the data the student sees.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2232" y="2148840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52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4A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52232" y="2697480"/>
            <a:ext cx="193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A"/>
                </a:solidFill>
              </a:rPr>
              <a:t>Take the quiz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2952232" y="3017520"/>
            <a:ext cx="193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F5F"/>
                </a:solidFill>
              </a:rPr>
              <a:t>20 questions produce career matches and a Holland code.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7224" y="2148840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7224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4A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7224" y="2697480"/>
            <a:ext cx="193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A"/>
                </a:solidFill>
              </a:rPr>
              <a:t>Pick a career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127224" y="3017520"/>
            <a:ext cx="193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F5F"/>
                </a:solidFill>
              </a:rPr>
              <a:t>Review matches, watch short career videos, choose a direction.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02216" y="2148840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0221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4A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02216" y="2697480"/>
            <a:ext cx="193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A"/>
                </a:solidFill>
              </a:rPr>
              <a:t>Explore and compare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302216" y="3017520"/>
            <a:ext cx="193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F5F"/>
                </a:solidFill>
              </a:rPr>
              <a:t>Shortlist majors, then compare universities side by side.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77207" y="2148840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77207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4A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477207" y="2697480"/>
            <a:ext cx="193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A"/>
                </a:solidFill>
              </a:rPr>
              <a:t>Get the plan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477207" y="3017520"/>
            <a:ext cx="193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F5F"/>
                </a:solidFill>
              </a:rPr>
              <a:t>Career, shortlist, mentor sessions and next steps in one place.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Matching, not guessing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The 20-question quiz produces a Holland code and ranked career matches rather than a single verdict.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Results are explained, so the student understands why a career fits.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Short career videos sit next to each match for a realistic picture of the work.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Choices stay editable — changing an earlier answer reopens the steps that depend on it.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Signed-in progress saves automatically and is there at the next sign-in.</a:t>
            </a:r>
            <a:endParaRPr lang="en-US" sz="1400" dirty="0"/>
          </a:p>
        </p:txBody>
      </p:sp>
      <p:sp>
        <p:nvSpPr>
          <p:cNvPr id="5" name="statcard"/>
          <p:cNvSpPr/>
          <p:nvPr/>
        </p:nvSpPr>
        <p:spPr>
          <a:xfrm>
            <a:off x="8001000" y="2103120"/>
            <a:ext cx="3413455" cy="2377440"/>
          </a:xfrm>
          <a:prstGeom prst="roundRect">
            <a:avLst>
              <a:gd name="adj" fmla="val 3846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5048" y="251460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385048" y="338328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6E3"/>
                </a:solidFill>
              </a:rPr>
              <a:t>questions to a ranked set of career matches and a Holland code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Universities and majors in one place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Once a career is chosen, CareerNest opens the paths that lead there.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Majors related to the chosen career, shortlisted by the student.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Universities and colleges with photos and admission-relevant detail.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A side-by-side comparison of at least two options before the plan unlocks.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Admins keep the university data current in the admin portal, and bulk-import from a CSV template.</a:t>
            </a:r>
            <a:endParaRPr lang="en-US" sz="1400" dirty="0"/>
          </a:p>
        </p:txBody>
      </p:sp>
      <p:sp>
        <p:nvSpPr>
          <p:cNvPr id="5" name="statcard"/>
          <p:cNvSpPr/>
          <p:nvPr/>
        </p:nvSpPr>
        <p:spPr>
          <a:xfrm>
            <a:off x="8001000" y="2103120"/>
            <a:ext cx="3413455" cy="2377440"/>
          </a:xfrm>
          <a:prstGeom prst="roundRect">
            <a:avLst>
              <a:gd name="adj" fmla="val 3846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5048" y="251460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385048" y="338328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6E3"/>
                </a:solidFill>
              </a:rPr>
              <a:t>education tracks supported: Grade 12, GED and IGCSE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coach that knows the journey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The AI career coach and university advisor answer questions in the student's own context, not in a blank chat window.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Signed-in students get a free allowance of AI questions; Pro removes the limit.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A primary AI provider with an automatic fallback keeps the coach answering.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Guests can explore careers, but AI, saved progress and mentors need an account.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The Pro PDF report is generated in the browser, so it costs no AI calls.</a:t>
            </a:r>
            <a:endParaRPr lang="en-US" sz="1400" dirty="0"/>
          </a:p>
        </p:txBody>
      </p:sp>
      <p:sp>
        <p:nvSpPr>
          <p:cNvPr id="5" name="statcard"/>
          <p:cNvSpPr/>
          <p:nvPr/>
        </p:nvSpPr>
        <p:spPr>
          <a:xfrm>
            <a:off x="8001000" y="2103120"/>
            <a:ext cx="3413455" cy="2377440"/>
          </a:xfrm>
          <a:prstGeom prst="roundRect">
            <a:avLst>
              <a:gd name="adj" fmla="val 3846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5048" y="251460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385048" y="338328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6E3"/>
                </a:solidFill>
              </a:rPr>
              <a:t>career coach and university advisor, with provider failover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mentors, booked in the app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The step no quiz can replace: talking to someone who has already walked the path.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Mentors apply through the app and are reviewed by an admin before sign-in is enabled.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Mentors publish their availability; Pro students book sessions directly.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Booked sessions appear in the student's plan alongside the career and shortlist.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The API checks Pro entitlement on every booking.</a:t>
            </a:r>
            <a:endParaRPr lang="en-US" sz="1400" dirty="0"/>
          </a:p>
        </p:txBody>
      </p:sp>
      <p:sp>
        <p:nvSpPr>
          <p:cNvPr id="5" name="statcard"/>
          <p:cNvSpPr/>
          <p:nvPr/>
        </p:nvSpPr>
        <p:spPr>
          <a:xfrm>
            <a:off x="8001000" y="2103120"/>
            <a:ext cx="3413455" cy="2377440"/>
          </a:xfrm>
          <a:prstGeom prst="roundRect">
            <a:avLst>
              <a:gd name="adj" fmla="val 3846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5048" y="251460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385048" y="338328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6E3"/>
                </a:solidFill>
              </a:rPr>
              <a:t>portals: student, mentor and admin, each with its own access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real product, not a demo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Three portals, role-based access and an admin team that runs the platform day to day.</a:t>
            </a:r>
            <a:endParaRPr lang="en-US" sz="1300" dirty="0"/>
          </a:p>
        </p:txBody>
      </p:sp>
      <p:sp>
        <p:nvSpPr>
          <p:cNvPr id="4" name="card1"/>
          <p:cNvSpPr/>
          <p:nvPr/>
        </p:nvSpPr>
        <p:spPr>
          <a:xfrm>
            <a:off x="777240" y="1965960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" y="2240280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8136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624328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Student portal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935224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The guided journey, saved progress, AI coach, mentor booking and the Pro report.</a:t>
            </a:r>
            <a:endParaRPr lang="en-US" sz="1250" dirty="0"/>
          </a:p>
        </p:txBody>
      </p:sp>
      <p:sp>
        <p:nvSpPr>
          <p:cNvPr id="9" name="card2"/>
          <p:cNvSpPr/>
          <p:nvPr/>
        </p:nvSpPr>
        <p:spPr>
          <a:xfrm>
            <a:off x="6278728" y="1965960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9624" y="2240280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9624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9624" y="2624328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Mentor portal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89624" y="2935224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Applications, admin review, availability and the sessions a mentor has been booked for.</a:t>
            </a:r>
            <a:endParaRPr lang="en-US" sz="1250" dirty="0"/>
          </a:p>
        </p:txBody>
      </p:sp>
      <p:sp>
        <p:nvSpPr>
          <p:cNvPr id="14" name="card3"/>
          <p:cNvSpPr/>
          <p:nvPr/>
        </p:nvSpPr>
        <p:spPr>
          <a:xfrm>
            <a:off x="777240" y="3995928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" y="4270248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88136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" y="4654296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Admin portal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965192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Payments, mentors, students, universities, content, payment accounts and admin roles.</a:t>
            </a:r>
            <a:endParaRPr lang="en-US" sz="1250" dirty="0"/>
          </a:p>
        </p:txBody>
      </p:sp>
      <p:sp>
        <p:nvSpPr>
          <p:cNvPr id="19" name="card4"/>
          <p:cNvSpPr/>
          <p:nvPr/>
        </p:nvSpPr>
        <p:spPr>
          <a:xfrm>
            <a:off x="6278728" y="3995928"/>
            <a:ext cx="5135728" cy="1737360"/>
          </a:xfrm>
          <a:prstGeom prst="roundRect">
            <a:avLst>
              <a:gd name="adj" fmla="val 4211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9624" y="4270248"/>
            <a:ext cx="274320" cy="27432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9624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9624" y="4654296"/>
            <a:ext cx="451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</a:rPr>
              <a:t>Guest mode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89624" y="4965192"/>
            <a:ext cx="451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F5F"/>
                </a:solidFill>
              </a:rPr>
              <a:t>Anyone can try the career flow first. Registering keeps the progress instead of losing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A conventional, maintainable stack — deployed and running today.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242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A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60320"/>
            <a:ext cx="24261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React 19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TypeScript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Vite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Tailwind CSS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Client-side PDF (jsPDF)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14268" y="2103120"/>
            <a:ext cx="242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A"/>
                </a:solidFill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514268" y="2560320"/>
            <a:ext cx="24261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Node.js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Express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TypeScript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JWT auth with role checks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Zod validation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51296" y="2103120"/>
            <a:ext cx="242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A"/>
                </a:solidFill>
              </a:rPr>
              <a:t>Data and 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51296" y="2560320"/>
            <a:ext cx="24261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PostgreSQL on Supabase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Versioned SQL migrations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AI provider + fallback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Vitest tests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88323" y="2103120"/>
            <a:ext cx="242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A"/>
                </a:solidFill>
              </a:rPr>
              <a:t>Hosting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988323" y="2560320"/>
            <a:ext cx="24261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Render for web and API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Health endpoint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Seeded demo accounts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Separate deploy config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pays for itself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The core journey stays free. Pro covers the costs that scale with use.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Free: quiz, career matches, university discovery, saved progress and a limited AI allowance.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Pro: unlimited AI coaching, mentor sessions and the full PDF report.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Payment is submitted in the app with a screenshot and approved by an admin after the money arrives.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C4443"/>
                </a:solidFill>
              </a:rPr>
              <a:t>Membership runs one calendar month per approved payment and simply expires — no automatic charge.</a:t>
            </a:r>
            <a:endParaRPr lang="en-US" sz="1400" dirty="0"/>
          </a:p>
        </p:txBody>
      </p:sp>
      <p:sp>
        <p:nvSpPr>
          <p:cNvPr id="5" name="statcard"/>
          <p:cNvSpPr/>
          <p:nvPr/>
        </p:nvSpPr>
        <p:spPr>
          <a:xfrm>
            <a:off x="8001000" y="2103120"/>
            <a:ext cx="3413455" cy="2377440"/>
          </a:xfrm>
          <a:prstGeom prst="roundRect">
            <a:avLst>
              <a:gd name="adj" fmla="val 3846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5048" y="251460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Ks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385048" y="3383280"/>
            <a:ext cx="2645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6E3"/>
                </a:solidFill>
              </a:rPr>
              <a:t>per month for Pro, approved by an admin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548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and what is next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2618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F5F"/>
                </a:solidFill>
              </a:rPr>
              <a:t>The product is live and usable end to end. The next steps widen reach and deepen the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5117440" cy="2834640"/>
          </a:xfrm>
          <a:prstGeom prst="roundRect">
            <a:avLst>
              <a:gd name="adj" fmla="val 2258"/>
            </a:avLst>
          </a:prstGeom>
          <a:solidFill>
            <a:srgbClr val="0F4C4A"/>
          </a:solidFill>
          <a:ln w="12700">
            <a:solidFill>
              <a:srgbClr val="0F4C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" y="2377440"/>
            <a:ext cx="434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Working today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2788920"/>
            <a:ext cx="43493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AE8"/>
                </a:solidFill>
              </a:rPr>
              <a:t>Full student journey, guest to plan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AE8"/>
                </a:solidFill>
              </a:rPr>
              <a:t>Three portals with role-based access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AE8"/>
                </a:solidFill>
              </a:rPr>
              <a:t>AI coach with provider failover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AE8"/>
                </a:solidFill>
              </a:rPr>
              <a:t>Pro payments, monthly membership and PDF report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AE8"/>
                </a:solidFill>
              </a:rPr>
              <a:t>Deployed on Render with a live 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97016" y="2057400"/>
            <a:ext cx="5117440" cy="2834640"/>
          </a:xfrm>
          <a:prstGeom prst="roundRect">
            <a:avLst>
              <a:gd name="adj" fmla="val 2258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81064" y="2377440"/>
            <a:ext cx="434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A"/>
                </a:solidFill>
              </a:rPr>
              <a:t>Next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81064" y="2788920"/>
            <a:ext cx="43493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Wider university and scholarship coverage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Full Burmese-language experience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Mentor ratings and session feedback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Outreach through schools and tuition centres</a:t>
            </a:r>
            <a:endParaRPr lang="en-US" sz="1300" dirty="0"/>
          </a:p>
          <a:p>
            <a:pPr indent="0" marL="0">
              <a:lnSpc>
                <a:spcPct val="14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F5F"/>
                </a:solidFill>
              </a:rPr>
              <a:t>Mobile-first polish for low-bandwidth 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BA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00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9D6"/>
                </a:solidFill>
              </a:rPr>
              <a:t>CareerNest is live. Open the demo, take the quiz, and follow the journey a student would.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careernest-bn5l.onrender.com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DB9"/>
                </a:solidFill>
              </a:rPr>
              <a:t>Student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student@careernet.local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DB9"/>
                </a:solidFill>
              </a:rPr>
              <a:t>Pro student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pro@careernet.local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05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DB9"/>
                </a:solidFill>
              </a:rPr>
              <a:t>Mentor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hnin@mentor.careernet.local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4005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DB9"/>
                </a:solidFill>
              </a:rPr>
              <a:t>Admin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super@careernet.local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9D6"/>
                </a:solidFill>
              </a:rPr>
              <a:t>Presented by Rowders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44768"/>
            <a:ext cx="4389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F9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erNest">
  <a:themeElements>
    <a:clrScheme name="CareerNest">
      <a:dk1>
        <a:srgbClr val="1B2B2B"/>
      </a:dk1>
      <a:lt1>
        <a:srgbClr val="FFFFFF"/>
      </a:lt1>
      <a:dk2>
        <a:srgbClr val="0F4C4A"/>
      </a:dk2>
      <a:lt2>
        <a:srgbClr val="F3F7F6"/>
      </a:lt2>
      <a:accent1>
        <a:srgbClr val="0F4C4A"/>
      </a:accent1>
      <a:accent2>
        <a:srgbClr val="4FD1C5"/>
      </a:accent2>
      <a:accent3>
        <a:srgbClr val="4A5F5F"/>
      </a:accent3>
      <a:accent4>
        <a:srgbClr val="BFD9D6"/>
      </a:accent4>
      <a:accent5>
        <a:srgbClr val="9BAAAA"/>
      </a:accent5>
      <a:accent6>
        <a:srgbClr val="2C4443"/>
      </a:accent6>
      <a:hlink>
        <a:srgbClr val="0F4C4A"/>
      </a:hlink>
      <a:folHlink>
        <a:srgbClr val="4A5F5F"/>
      </a:folHlink>
    </a:clrScheme>
    <a:fontScheme name="CareerN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CareerNest — pitch</dc:title>
  <dc:subject>PptxGenJS Presentation</dc:subject>
  <dc:creator>Rowders</dc:creator>
  <cp:lastModifiedBy>Rowders</cp:lastModifiedBy>
  <cp:revision>1</cp:revision>
  <dcterms:created xsi:type="dcterms:W3CDTF">2026-10-23T17:08:06Z</dcterms:created>
  <dcterms:modified xsi:type="dcterms:W3CDTF">2026-10-23T17:08:06Z</dcterms:modified>
</cp:coreProperties>
</file>